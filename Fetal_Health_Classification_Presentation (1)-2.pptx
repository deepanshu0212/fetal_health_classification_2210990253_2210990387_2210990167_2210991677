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69633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1" type="ftr"/>
          </p:nvPr>
        </p:nvSpPr>
        <p:spPr>
          <a:xfrm>
            <a:off x="3124079" y="6566396"/>
            <a:ext cx="3577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7010640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jp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42" name="Google Shape;42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3" name="Google Shape;43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45" name="Google Shape;45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6" name="Google Shape;46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9" name="Google Shape;49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51" name="Google Shape;51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52" name="Google Shape;52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Threshold-Tuned Gradient Boosting for Fetal Health Classification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Deepanshu  |  Harshit Kukreja  |  Arsh Sudan  |  Inder Goswami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2210990253  |  2210990387  |  2210990167  |  2210991677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Rajat Takkar, Chitkara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4">
            <a:alphaModFix/>
          </a:blip>
          <a:srcRect b="0" l="12503" r="12495" t="0"/>
          <a:stretch/>
        </p:blipFill>
        <p:spPr>
          <a:xfrm>
            <a:off x="0" y="852225"/>
            <a:ext cx="9144000" cy="600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10"/>
          <p:cNvGrpSpPr/>
          <p:nvPr/>
        </p:nvGrpSpPr>
        <p:grpSpPr>
          <a:xfrm>
            <a:off x="285750" y="1290888"/>
            <a:ext cx="8572500" cy="1333500"/>
            <a:chOff x="285750" y="952500"/>
            <a:chExt cx="8572500" cy="1333500"/>
          </a:xfrm>
        </p:grpSpPr>
        <p:sp>
          <p:nvSpPr>
            <p:cNvPr id="82" name="Google Shape;82;p10"/>
            <p:cNvSpPr/>
            <p:nvPr/>
          </p:nvSpPr>
          <p:spPr>
            <a:xfrm>
              <a:off x="285750" y="952500"/>
              <a:ext cx="8572500" cy="1333500"/>
            </a:xfrm>
            <a:prstGeom prst="roundRect">
              <a:avLst>
                <a:gd fmla="val 8571" name="adj"/>
              </a:avLst>
            </a:prstGeom>
            <a:solidFill>
              <a:srgbClr val="FEE2E2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0"/>
            <p:cNvSpPr txBox="1"/>
            <p:nvPr/>
          </p:nvSpPr>
          <p:spPr>
            <a:xfrm>
              <a:off x="952500" y="1047750"/>
              <a:ext cx="7715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9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  <a:endParaRPr b="1" i="0" sz="1800" u="none" cap="none" strike="noStrike">
                <a:solidFill>
                  <a:srgbClr val="991B1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450A0A"/>
                </a:buClr>
                <a:buSzPts val="1400"/>
                <a:buFont typeface="Times New Roman"/>
                <a:buChar char="●"/>
              </a:pPr>
              <a:r>
                <a:rPr b="0" i="0" lang="en-US" sz="1400" u="none" cap="none" strike="noStrike">
                  <a:solidFill>
                    <a:srgbClr val="450A0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Fetal health monitoring via Cardiotocography (CTG) is critical for early detection of fetal distress</a:t>
              </a:r>
              <a:endParaRPr b="0" i="0" sz="1400" u="none" cap="none" strike="noStrike">
                <a:solidFill>
                  <a:srgbClr val="450A0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450A0A"/>
                </a:buClr>
                <a:buSzPts val="1400"/>
                <a:buFont typeface="Times New Roman"/>
                <a:buChar char="●"/>
              </a:pPr>
              <a:r>
                <a:rPr b="0" i="0" lang="en-US" sz="1400" u="none" cap="none" strike="noStrike">
                  <a:solidFill>
                    <a:srgbClr val="450A0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Manual CTG interpretation varies widely between clinicians — delays can prove fatal</a:t>
              </a:r>
              <a:endParaRPr b="0" i="0" sz="1400" u="none" cap="none" strike="noStrike">
                <a:solidFill>
                  <a:srgbClr val="450A0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4" name="Google Shape;84;p10"/>
          <p:cNvGrpSpPr/>
          <p:nvPr/>
        </p:nvGrpSpPr>
        <p:grpSpPr>
          <a:xfrm>
            <a:off x="285750" y="3065500"/>
            <a:ext cx="4201149" cy="2060257"/>
            <a:chOff x="285749" y="2556562"/>
            <a:chExt cx="4107900" cy="2857500"/>
          </a:xfrm>
        </p:grpSpPr>
        <p:sp>
          <p:nvSpPr>
            <p:cNvPr id="85" name="Google Shape;85;p10"/>
            <p:cNvSpPr/>
            <p:nvPr/>
          </p:nvSpPr>
          <p:spPr>
            <a:xfrm>
              <a:off x="285749" y="2556562"/>
              <a:ext cx="4107900" cy="2857500"/>
            </a:xfrm>
            <a:prstGeom prst="roundRect">
              <a:avLst>
                <a:gd fmla="val 4000" name="adj"/>
              </a:avLst>
            </a:prstGeom>
            <a:solidFill>
              <a:srgbClr val="EFF6FF"/>
            </a:solidFill>
            <a:ln cap="flat" cmpd="sng" w="97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32"/>
                <a:buFont typeface="Arial"/>
                <a:buNone/>
              </a:pPr>
              <a:r>
                <a:t/>
              </a:r>
              <a:endParaRPr b="0" i="0" sz="14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0"/>
            <p:cNvSpPr txBox="1"/>
            <p:nvPr/>
          </p:nvSpPr>
          <p:spPr>
            <a:xfrm>
              <a:off x="789016" y="2714047"/>
              <a:ext cx="3333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41"/>
                <a:buFont typeface="Arial"/>
                <a:buNone/>
              </a:pPr>
              <a:r>
                <a:rPr b="1" i="0" lang="en-US" sz="1841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Insights</a:t>
              </a:r>
              <a:endParaRPr b="1" i="0" sz="1841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20"/>
                </a:spcBef>
                <a:spcAft>
                  <a:spcPts val="0"/>
                </a:spcAft>
                <a:buClr>
                  <a:srgbClr val="000000"/>
                </a:buClr>
                <a:buSzPts val="1432"/>
                <a:buFont typeface="Arial"/>
                <a:buNone/>
              </a:pPr>
              <a:r>
                <a:rPr b="1" i="0" lang="en-US" sz="1432" u="none" cap="none" strike="noStrike">
                  <a:solidFill>
                    <a:srgbClr val="1E3A8A"/>
                  </a:solidFill>
                  <a:highlight>
                    <a:srgbClr val="DBEAFE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Recall &gt; Precision &gt; Accuracy</a:t>
              </a:r>
              <a:endParaRPr b="1" i="0" sz="1432" u="none" cap="none" strike="noStrike">
                <a:solidFill>
                  <a:srgbClr val="1E3A8A"/>
                </a:solidFill>
                <a:highlight>
                  <a:srgbClr val="DBEAFE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8220" lvl="0" marL="467590" marR="0" rtl="0" algn="l">
                <a:lnSpc>
                  <a:spcPct val="100000"/>
                </a:lnSpc>
                <a:spcBef>
                  <a:spcPts val="767"/>
                </a:spcBef>
                <a:spcAft>
                  <a:spcPts val="0"/>
                </a:spcAft>
                <a:buClr>
                  <a:srgbClr val="1E3A8A"/>
                </a:buClr>
                <a:buSzPts val="1330"/>
                <a:buFont typeface="Times New Roman"/>
                <a:buChar char="●"/>
              </a:pPr>
              <a:r>
                <a:rPr b="0" i="0" lang="en-US" sz="1330" u="none" cap="none" strike="noStrike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Missing Pathological case → baby could die </a:t>
              </a:r>
              <a:r>
                <a:rPr b="1" i="0" lang="en-US" sz="1330" u="none" cap="none" strike="noStrike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(Worst Outcome)</a:t>
              </a:r>
              <a:endParaRPr b="0" i="0" sz="133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8220" lvl="0" marL="467590" marR="0" rtl="0" algn="l">
                <a:lnSpc>
                  <a:spcPct val="100000"/>
                </a:lnSpc>
                <a:spcBef>
                  <a:spcPts val="767"/>
                </a:spcBef>
                <a:spcAft>
                  <a:spcPts val="0"/>
                </a:spcAft>
                <a:buClr>
                  <a:srgbClr val="1E3A8A"/>
                </a:buClr>
                <a:buSzPts val="1330"/>
                <a:buFont typeface="Times New Roman"/>
                <a:buChar char="●"/>
              </a:pPr>
              <a:r>
                <a:rPr b="0" i="0" lang="en-US" sz="1330" u="none" cap="none" strike="noStrike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False alarm → extra tests, but baby is safe </a:t>
              </a:r>
              <a:r>
                <a:rPr b="1" i="0" lang="en-US" sz="1330" u="none" cap="none" strike="noStrike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(Acceptable Cost)</a:t>
              </a:r>
              <a:endParaRPr b="0" i="0" sz="133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7" name="Google Shape;87;p10"/>
          <p:cNvSpPr txBox="1"/>
          <p:nvPr/>
        </p:nvSpPr>
        <p:spPr>
          <a:xfrm>
            <a:off x="381000" y="125325"/>
            <a:ext cx="83820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" name="Google Shape;88;p10"/>
          <p:cNvGrpSpPr/>
          <p:nvPr/>
        </p:nvGrpSpPr>
        <p:grpSpPr>
          <a:xfrm>
            <a:off x="4812572" y="3065423"/>
            <a:ext cx="4045572" cy="2060257"/>
            <a:chOff x="4667250" y="2476500"/>
            <a:chExt cx="4191000" cy="2857500"/>
          </a:xfrm>
        </p:grpSpPr>
        <p:sp>
          <p:nvSpPr>
            <p:cNvPr id="89" name="Google Shape;89;p10"/>
            <p:cNvSpPr/>
            <p:nvPr/>
          </p:nvSpPr>
          <p:spPr>
            <a:xfrm>
              <a:off x="4667250" y="2476500"/>
              <a:ext cx="4191000" cy="2857500"/>
            </a:xfrm>
            <a:prstGeom prst="roundRect">
              <a:avLst>
                <a:gd fmla="val 4000" name="adj"/>
              </a:avLst>
            </a:prstGeom>
            <a:solidFill>
              <a:srgbClr val="F0FDF4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0"/>
            <p:cNvSpPr txBox="1"/>
            <p:nvPr/>
          </p:nvSpPr>
          <p:spPr>
            <a:xfrm>
              <a:off x="5082648" y="2644450"/>
              <a:ext cx="3585300" cy="25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Objectives</a:t>
              </a:r>
              <a:endParaRPr b="1" i="0" sz="18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64E3B"/>
                </a:buClr>
                <a:buSzPts val="1300"/>
                <a:buFont typeface="Arial"/>
                <a:buChar char="●"/>
              </a:pPr>
              <a:r>
                <a:rPr b="0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Classify 2,113 CTG records into </a:t>
              </a:r>
              <a:r>
                <a:rPr b="1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Normal, Suspect, or Pathological</a:t>
              </a:r>
              <a:endParaRPr b="0" i="0" sz="1300" u="none" cap="none" strike="noStrike">
                <a:solidFill>
                  <a:srgbClr val="064E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●"/>
              </a:pPr>
              <a:r>
                <a:rPr b="0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Achieve </a:t>
              </a:r>
              <a:r>
                <a:rPr b="1" i="0" lang="en-US" sz="1300" u="none" cap="none" strike="noStrike">
                  <a:solidFill>
                    <a:srgbClr val="1580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Pathological Recall</a:t>
              </a:r>
              <a:r>
                <a:rPr b="0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while maintaining accuracy</a:t>
              </a:r>
              <a:endParaRPr b="0" i="0" sz="1300" u="none" cap="none" strike="noStrike">
                <a:solidFill>
                  <a:srgbClr val="064E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E3B"/>
                </a:buClr>
                <a:buSzPts val="1300"/>
                <a:buFont typeface="Arial"/>
                <a:buChar char="●"/>
              </a:pPr>
              <a:r>
                <a:rPr b="0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Utilize </a:t>
              </a:r>
              <a:r>
                <a:rPr b="1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Gradient Boosting</a:t>
              </a:r>
              <a:r>
                <a:rPr b="0" i="0" lang="en-US" sz="1300" u="none" cap="none" strike="noStrike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with two-stage optimization</a:t>
              </a:r>
              <a:endParaRPr b="0" i="0" sz="1300" u="none" cap="none" strike="noStrike">
                <a:solidFill>
                  <a:srgbClr val="064E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1" name="Google Shape;91;p10"/>
          <p:cNvSpPr txBox="1"/>
          <p:nvPr/>
        </p:nvSpPr>
        <p:spPr>
          <a:xfrm>
            <a:off x="6762750" y="6524625"/>
            <a:ext cx="219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0" y="827175"/>
            <a:ext cx="9144000" cy="1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1"/>
          <p:cNvSpPr txBox="1"/>
          <p:nvPr/>
        </p:nvSpPr>
        <p:spPr>
          <a:xfrm>
            <a:off x="381000" y="225600"/>
            <a:ext cx="5998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EDA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285750" y="1047750"/>
            <a:ext cx="4191000" cy="2190900"/>
            <a:chOff x="285750" y="1047750"/>
            <a:chExt cx="4191000" cy="2190900"/>
          </a:xfrm>
        </p:grpSpPr>
        <p:sp>
          <p:nvSpPr>
            <p:cNvPr id="99" name="Google Shape;99;p11"/>
            <p:cNvSpPr/>
            <p:nvPr/>
          </p:nvSpPr>
          <p:spPr>
            <a:xfrm>
              <a:off x="285750" y="1047750"/>
              <a:ext cx="4191000" cy="2190900"/>
            </a:xfrm>
            <a:prstGeom prst="roundRect">
              <a:avLst>
                <a:gd fmla="val 521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476250" y="1190625"/>
              <a:ext cx="3810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EF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UCI Fetal Health CTG</a:t>
              </a:r>
              <a:endParaRPr b="1" i="0" sz="1800" u="none" cap="none" strike="noStrike">
                <a:solidFill>
                  <a:srgbClr val="EF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2,113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records (after deduplication)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21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features, 0 null values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Heavy class imbalance: Pathological is only </a:t>
              </a: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8.3%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1" name="Google Shape;101;p11"/>
          <p:cNvGrpSpPr/>
          <p:nvPr/>
        </p:nvGrpSpPr>
        <p:grpSpPr>
          <a:xfrm>
            <a:off x="285750" y="3429000"/>
            <a:ext cx="4191000" cy="2857500"/>
            <a:chOff x="285750" y="3429000"/>
            <a:chExt cx="4191000" cy="2857500"/>
          </a:xfrm>
        </p:grpSpPr>
        <p:sp>
          <p:nvSpPr>
            <p:cNvPr id="102" name="Google Shape;102;p11"/>
            <p:cNvSpPr/>
            <p:nvPr/>
          </p:nvSpPr>
          <p:spPr>
            <a:xfrm>
              <a:off x="285750" y="3429000"/>
              <a:ext cx="4191000" cy="2857500"/>
            </a:xfrm>
            <a:prstGeom prst="roundRect">
              <a:avLst>
                <a:gd fmla="val 4000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476250" y="3571875"/>
              <a:ext cx="3810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580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EDA Findings</a:t>
              </a:r>
              <a:endParaRPr b="1" i="0" sz="1800" u="none" cap="none" strike="noStrike">
                <a:solidFill>
                  <a:srgbClr val="15803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166534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Predictors:</a:t>
              </a:r>
              <a:r>
                <a:rPr b="0" i="0" lang="en-US" sz="1400" u="none" cap="none" strike="noStrike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Prolonged decelerations, abnormal short-term variability</a:t>
              </a:r>
              <a:endParaRPr b="0" i="0" sz="14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66534"/>
                </a:buClr>
                <a:buSzPts val="1400"/>
                <a:buFont typeface="Times New Roman"/>
                <a:buChar char="●"/>
              </a:pPr>
              <a:r>
                <a:rPr b="0" i="0" lang="en-US" sz="1400" u="none" cap="none" strike="noStrike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Heavy right skew in deceleration variables</a:t>
              </a:r>
              <a:endParaRPr b="0" i="0" sz="14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166534"/>
                </a:buClr>
                <a:buSzPts val="1400"/>
                <a:buFont typeface="Times New Roman"/>
                <a:buChar char="●"/>
              </a:pPr>
              <a:r>
                <a:rPr b="0" i="0" lang="en-US" sz="1400" u="none" cap="none" strike="noStrike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Features kept untransformed; tree models handle skew via rank-order splits</a:t>
              </a:r>
              <a:endParaRPr b="0" i="0" sz="14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4" name="Google Shape;104;p11"/>
          <p:cNvGrpSpPr/>
          <p:nvPr/>
        </p:nvGrpSpPr>
        <p:grpSpPr>
          <a:xfrm>
            <a:off x="4667250" y="1047750"/>
            <a:ext cx="4251050" cy="5238900"/>
            <a:chOff x="4667250" y="1047750"/>
            <a:chExt cx="4251050" cy="5238900"/>
          </a:xfrm>
        </p:grpSpPr>
        <p:sp>
          <p:nvSpPr>
            <p:cNvPr id="105" name="Google Shape;105;p11"/>
            <p:cNvSpPr/>
            <p:nvPr/>
          </p:nvSpPr>
          <p:spPr>
            <a:xfrm>
              <a:off x="4667250" y="1047750"/>
              <a:ext cx="4191000" cy="5238900"/>
            </a:xfrm>
            <a:prstGeom prst="roundRect">
              <a:avLst>
                <a:gd fmla="val 272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48577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 Distribution</a:t>
              </a:r>
              <a:endParaRPr b="1" i="0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07" name="Google Shape;107;p11"/>
            <p:cNvPicPr preferRelativeResize="0"/>
            <p:nvPr/>
          </p:nvPicPr>
          <p:blipFill rotWithShape="1">
            <a:blip r:embed="rId4">
              <a:alphaModFix/>
            </a:blip>
            <a:srcRect b="11112" l="0" r="60416" t="8830"/>
            <a:stretch/>
          </p:blipFill>
          <p:spPr>
            <a:xfrm>
              <a:off x="4727300" y="1790850"/>
              <a:ext cx="4191000" cy="3999300"/>
            </a:xfrm>
            <a:prstGeom prst="roundRect">
              <a:avLst>
                <a:gd fmla="val 2000" name="adj"/>
              </a:avLst>
            </a:prstGeom>
            <a:noFill/>
            <a:ln>
              <a:noFill/>
            </a:ln>
          </p:spPr>
        </p:pic>
      </p:grpSp>
      <p:sp>
        <p:nvSpPr>
          <p:cNvPr id="108" name="Google Shape;108;p11"/>
          <p:cNvSpPr txBox="1"/>
          <p:nvPr/>
        </p:nvSpPr>
        <p:spPr>
          <a:xfrm>
            <a:off x="6769389" y="6477000"/>
            <a:ext cx="21333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200" u="none" cap="none" strike="noStrike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2"/>
          <p:cNvGrpSpPr/>
          <p:nvPr/>
        </p:nvGrpSpPr>
        <p:grpSpPr>
          <a:xfrm>
            <a:off x="190500" y="1047750"/>
            <a:ext cx="8763150" cy="1714500"/>
            <a:chOff x="190500" y="1047750"/>
            <a:chExt cx="8763150" cy="1714500"/>
          </a:xfrm>
        </p:grpSpPr>
        <p:sp>
          <p:nvSpPr>
            <p:cNvPr id="114" name="Google Shape;114;p12"/>
            <p:cNvSpPr/>
            <p:nvPr/>
          </p:nvSpPr>
          <p:spPr>
            <a:xfrm>
              <a:off x="190500" y="1047750"/>
              <a:ext cx="42864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2"/>
            <p:cNvSpPr txBox="1"/>
            <p:nvPr/>
          </p:nvSpPr>
          <p:spPr>
            <a:xfrm>
              <a:off x="381000" y="119062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Stage 1: Sample Weighting</a:t>
              </a:r>
              <a:endParaRPr b="1" i="0" sz="1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Cost-Aware weight distribution to handle class imbalance: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F172A"/>
                  </a:solidFill>
                  <a:highlight>
                    <a:srgbClr val="F1F5F9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Normal : Suspect : Pathological</a:t>
              </a:r>
              <a:br>
                <a:rPr b="1" i="0" lang="en-US" sz="1600" u="none" cap="none" strike="noStrike">
                  <a:solidFill>
                    <a:srgbClr val="0F172A"/>
                  </a:solidFill>
                  <a:highlight>
                    <a:srgbClr val="F1F5F9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1" i="0" lang="en-US" sz="1600" u="none" cap="none" strike="noStrike">
                  <a:solidFill>
                    <a:srgbClr val="2563EB"/>
                  </a:solidFill>
                  <a:highlight>
                    <a:srgbClr val="F1F5F9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1 : 5 : 10</a:t>
              </a:r>
              <a:endParaRPr b="1" i="0" sz="1600" u="none" cap="none" strike="noStrike">
                <a:solidFill>
                  <a:srgbClr val="0F172A"/>
                </a:solidFill>
                <a:highlight>
                  <a:srgbClr val="F1F5F9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>
              <a:off x="4667250" y="1047750"/>
              <a:ext cx="42864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2"/>
            <p:cNvSpPr txBox="1"/>
            <p:nvPr/>
          </p:nvSpPr>
          <p:spPr>
            <a:xfrm>
              <a:off x="4857750" y="119062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Stage 2: Threshold Tuning</a:t>
              </a:r>
              <a:endParaRPr b="1" i="0" sz="1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Post-Hoc probability adjustments for conservative classification: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Times New Roman"/>
                <a:buChar char="●"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P(Pathological) ≥ </a:t>
              </a:r>
              <a:r>
                <a:rPr b="1" i="0" lang="en-US" sz="1500" u="none" cap="none" strike="noStrike">
                  <a:solidFill>
                    <a:srgbClr val="B91C1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0.10</a:t>
              </a:r>
              <a:endParaRPr b="0" i="0" sz="15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Times New Roman"/>
                <a:buChar char="●"/>
              </a:pPr>
              <a:r>
                <a:rPr b="0" i="0" lang="en-US" sz="15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P(Suspect) ≥ </a:t>
              </a:r>
              <a:r>
                <a:rPr b="1" i="0" lang="en-US" sz="1500" u="none" cap="none" strike="noStrike">
                  <a:solidFill>
                    <a:srgbClr val="B4530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0.30</a:t>
              </a:r>
              <a:endParaRPr b="0" i="0" sz="15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" name="Google Shape;118;p12"/>
          <p:cNvGrpSpPr/>
          <p:nvPr/>
        </p:nvGrpSpPr>
        <p:grpSpPr>
          <a:xfrm>
            <a:off x="190500" y="2952750"/>
            <a:ext cx="8763000" cy="2286000"/>
            <a:chOff x="190500" y="2952750"/>
            <a:chExt cx="8763000" cy="2286000"/>
          </a:xfrm>
        </p:grpSpPr>
        <p:sp>
          <p:nvSpPr>
            <p:cNvPr id="119" name="Google Shape;119;p12"/>
            <p:cNvSpPr/>
            <p:nvPr/>
          </p:nvSpPr>
          <p:spPr>
            <a:xfrm>
              <a:off x="190500" y="2952750"/>
              <a:ext cx="876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0" name="Google Shape;120;p12"/>
            <p:cNvPicPr preferRelativeResize="0"/>
            <p:nvPr/>
          </p:nvPicPr>
          <p:blipFill rotWithShape="1">
            <a:blip r:embed="rId4">
              <a:alphaModFix/>
            </a:blip>
            <a:srcRect b="17626" l="0" r="0" t="17620"/>
            <a:stretch/>
          </p:blipFill>
          <p:spPr>
            <a:xfrm>
              <a:off x="333375" y="3095625"/>
              <a:ext cx="8477400" cy="2000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2"/>
          <p:cNvGrpSpPr/>
          <p:nvPr/>
        </p:nvGrpSpPr>
        <p:grpSpPr>
          <a:xfrm>
            <a:off x="190500" y="5429250"/>
            <a:ext cx="8763000" cy="952500"/>
            <a:chOff x="190500" y="5429250"/>
            <a:chExt cx="8763000" cy="952500"/>
          </a:xfrm>
        </p:grpSpPr>
        <p:sp>
          <p:nvSpPr>
            <p:cNvPr id="122" name="Google Shape;122;p12"/>
            <p:cNvSpPr/>
            <p:nvPr/>
          </p:nvSpPr>
          <p:spPr>
            <a:xfrm>
              <a:off x="190500" y="5429250"/>
              <a:ext cx="8763000" cy="952500"/>
            </a:xfrm>
            <a:prstGeom prst="roundRect">
              <a:avLst>
                <a:gd fmla="val 12000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2"/>
            <p:cNvSpPr txBox="1"/>
            <p:nvPr/>
          </p:nvSpPr>
          <p:spPr>
            <a:xfrm>
              <a:off x="381000" y="552450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Preprocessing Ablation:</a:t>
              </a:r>
              <a:r>
                <a:rPr b="0" i="0" lang="en-US" sz="14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Outlier capping, log transforms, SMOTE, and feature engineering were tested but degraded top tree-based models.</a:t>
              </a:r>
              <a:endParaRPr b="0" i="0" sz="14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Result: Original features kept untransformed for optimal performance.</a:t>
              </a:r>
              <a:endParaRPr b="0" i="1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4" name="Google Shape;124;p12"/>
          <p:cNvSpPr txBox="1"/>
          <p:nvPr/>
        </p:nvSpPr>
        <p:spPr>
          <a:xfrm>
            <a:off x="6769390" y="6592494"/>
            <a:ext cx="213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 txBox="1"/>
          <p:nvPr>
            <p:ph type="title"/>
          </p:nvPr>
        </p:nvSpPr>
        <p:spPr>
          <a:xfrm>
            <a:off x="151086" y="154371"/>
            <a:ext cx="6220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Key Takeaways</a:t>
            </a:r>
            <a:endParaRPr b="1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type="title"/>
          </p:nvPr>
        </p:nvSpPr>
        <p:spPr>
          <a:xfrm>
            <a:off x="164000" y="438605"/>
            <a:ext cx="57744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Results — Model Comparison</a:t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31" name="Google Shape;131;p13"/>
          <p:cNvSpPr txBox="1"/>
          <p:nvPr/>
        </p:nvSpPr>
        <p:spPr>
          <a:xfrm>
            <a:off x="457200" y="26276"/>
            <a:ext cx="601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64008" y="1050000"/>
            <a:ext cx="8838720" cy="5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configurations benchmarked: GB (3 variants), RF, Extra Trees, Decision Tree,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SVM, KNN, Logistic Regression, MLP, Voting Ensemble  |  Train/Test: 80/20 stratified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comparison.png" id="133" name="Google Shape;1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00" y="1800000"/>
            <a:ext cx="8700000" cy="4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952500"/>
            <a:ext cx="9144000" cy="57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 txBox="1"/>
          <p:nvPr>
            <p:ph type="title"/>
          </p:nvPr>
        </p:nvSpPr>
        <p:spPr>
          <a:xfrm>
            <a:off x="285750" y="87750"/>
            <a:ext cx="8572500" cy="75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en-US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Weighting</a:t>
            </a:r>
            <a:endParaRPr b="1" i="0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1" name="Google Shape;141;p14"/>
          <p:cNvGrpSpPr/>
          <p:nvPr/>
        </p:nvGrpSpPr>
        <p:grpSpPr>
          <a:xfrm>
            <a:off x="238125" y="1143000"/>
            <a:ext cx="8667825" cy="2190900"/>
            <a:chOff x="238125" y="1143000"/>
            <a:chExt cx="8667825" cy="2190900"/>
          </a:xfrm>
        </p:grpSpPr>
        <p:sp>
          <p:nvSpPr>
            <p:cNvPr id="142" name="Google Shape;142;p14"/>
            <p:cNvSpPr/>
            <p:nvPr/>
          </p:nvSpPr>
          <p:spPr>
            <a:xfrm>
              <a:off x="238125" y="1143000"/>
              <a:ext cx="4238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 txBox="1"/>
            <p:nvPr/>
          </p:nvSpPr>
          <p:spPr>
            <a:xfrm>
              <a:off x="428625" y="1285875"/>
              <a:ext cx="3857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Sample Weighting?</a:t>
              </a:r>
              <a:endParaRPr b="1" i="0" sz="1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 Imbalance:</a:t>
              </a: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Pathological class is only 8.3% (175 / 2,113)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Bias Correction:</a:t>
              </a: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Standard training treats samples equally, biasing toward "Normal"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Penalty:</a:t>
              </a: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Assigns higher cost to misclassifying minority classes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4667250" y="1143000"/>
              <a:ext cx="4238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4857750" y="1285875"/>
              <a:ext cx="3857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How It Works</a:t>
              </a:r>
              <a:endParaRPr b="1" i="0" sz="1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Assigned Weights:</a:t>
              </a: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Normal = 1x, Suspect = 5x, Pathological = 10x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Loss Penalization:</a:t>
              </a: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Errors on Pathological cases penalized 10x more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Gradient Shift:</a:t>
              </a:r>
              <a:r>
                <a:rPr b="0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Adjusts signal without altering data distribution</a:t>
              </a:r>
              <a:endParaRPr b="0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6" name="Google Shape;146;p14"/>
          <p:cNvGrpSpPr/>
          <p:nvPr/>
        </p:nvGrpSpPr>
        <p:grpSpPr>
          <a:xfrm>
            <a:off x="238125" y="3476625"/>
            <a:ext cx="8667900" cy="2952900"/>
            <a:chOff x="238125" y="3476625"/>
            <a:chExt cx="8667900" cy="2952900"/>
          </a:xfrm>
        </p:grpSpPr>
        <p:sp>
          <p:nvSpPr>
            <p:cNvPr id="147" name="Google Shape;147;p14"/>
            <p:cNvSpPr/>
            <p:nvPr/>
          </p:nvSpPr>
          <p:spPr>
            <a:xfrm>
              <a:off x="238125" y="3476625"/>
              <a:ext cx="8667900" cy="2952900"/>
            </a:xfrm>
            <a:prstGeom prst="roundRect">
              <a:avLst>
                <a:gd fmla="val 387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428625" y="3571875"/>
              <a:ext cx="828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Weight Configuration Comparison — Gradient Boosting</a:t>
              </a:r>
              <a:endParaRPr b="1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49" name="Google Shape;149;p14"/>
          <p:cNvPicPr preferRelativeResize="0"/>
          <p:nvPr/>
        </p:nvPicPr>
        <p:blipFill rotWithShape="1">
          <a:blip r:embed="rId4">
            <a:alphaModFix/>
          </a:blip>
          <a:srcRect b="20031" l="0" r="0" t="20031"/>
          <a:stretch/>
        </p:blipFill>
        <p:spPr>
          <a:xfrm>
            <a:off x="428625" y="3905250"/>
            <a:ext cx="8286900" cy="24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8286750" y="6477000"/>
            <a:ext cx="571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200" u="none" cap="none" strike="noStrike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172950" y="200525"/>
            <a:ext cx="8572500" cy="5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600"/>
              <a:t>Threshold Tuning and Confusion Matrix</a:t>
            </a:r>
            <a:endParaRPr b="1" sz="2600"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285750" y="952500"/>
            <a:ext cx="8572500" cy="1714500"/>
            <a:chOff x="285750" y="952500"/>
            <a:chExt cx="8572500" cy="1714500"/>
          </a:xfrm>
        </p:grpSpPr>
        <p:sp>
          <p:nvSpPr>
            <p:cNvPr id="157" name="Google Shape;157;p15"/>
            <p:cNvSpPr/>
            <p:nvPr/>
          </p:nvSpPr>
          <p:spPr>
            <a:xfrm>
              <a:off x="285750" y="952500"/>
              <a:ext cx="8572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476250" y="1095375"/>
              <a:ext cx="8191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0"/>
                <a:buFont typeface="Arial"/>
                <a:buNone/>
              </a:pPr>
              <a:r>
                <a:rPr b="1" i="0" lang="en-US" sz="153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Takeaways:</a:t>
              </a:r>
              <a:endParaRPr b="1" i="0" sz="153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b="1" i="0" lang="en-US" sz="1360" u="none" cap="none" strike="noStrike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Pathological Recall</a:t>
              </a:r>
              <a:r>
                <a:rPr b="0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Zero missed sick cases achieved via threshold tuning.</a:t>
              </a:r>
              <a:endParaRPr b="0" i="0" sz="136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b="0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Precision: Only 3 false alarms out of 38 Pathological predictions (</a:t>
              </a:r>
              <a:r>
                <a:rPr b="1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92.11%</a:t>
              </a:r>
              <a:r>
                <a:rPr b="0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).</a:t>
              </a:r>
              <a:endParaRPr b="0" i="0" sz="136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b="0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Suspect recall improved from </a:t>
              </a:r>
              <a:r>
                <a:rPr b="1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77.59% → 81.03%</a:t>
              </a:r>
              <a:r>
                <a:rPr b="0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i="0" sz="136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b="0" i="0" lang="en-US" sz="136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Robustness: 94.08% ± 1.17% Accuracy (5-Fold CV).</a:t>
              </a:r>
              <a:endParaRPr b="0" i="0" sz="136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-2509" y="2857500"/>
            <a:ext cx="8860909" cy="285900"/>
            <a:chOff x="-2509" y="2857500"/>
            <a:chExt cx="8860909" cy="285900"/>
          </a:xfrm>
        </p:grpSpPr>
        <p:sp>
          <p:nvSpPr>
            <p:cNvPr id="160" name="Google Shape;160;p15"/>
            <p:cNvSpPr txBox="1"/>
            <p:nvPr/>
          </p:nvSpPr>
          <p:spPr>
            <a:xfrm>
              <a:off x="-2509" y="2857500"/>
              <a:ext cx="519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Performance: Recall Comparison</a:t>
              </a:r>
              <a:endParaRPr b="1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5524500" y="285750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Confusion Matrix (Threshold-Tuned GB)</a:t>
              </a:r>
              <a:endParaRPr b="1" i="0" sz="14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2" name="Google Shape;162;p15"/>
          <p:cNvPicPr preferRelativeResize="0"/>
          <p:nvPr/>
        </p:nvPicPr>
        <p:blipFill rotWithShape="1">
          <a:blip r:embed="rId4">
            <a:alphaModFix/>
          </a:blip>
          <a:srcRect b="-2750" l="-11185" r="50431" t="2750"/>
          <a:stretch/>
        </p:blipFill>
        <p:spPr>
          <a:xfrm>
            <a:off x="-150389" y="3190875"/>
            <a:ext cx="4900200" cy="31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6734" r="0" t="0"/>
          <a:stretch/>
        </p:blipFill>
        <p:spPr>
          <a:xfrm>
            <a:off x="5271328" y="3215941"/>
            <a:ext cx="3541800" cy="3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7905750" y="6477000"/>
            <a:ext cx="95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6</a:t>
            </a:r>
            <a:endParaRPr b="0" i="0" sz="1200" u="none" cap="none" strike="noStrike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939975"/>
            <a:ext cx="9144000" cy="563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6"/>
          <p:cNvGrpSpPr/>
          <p:nvPr/>
        </p:nvGrpSpPr>
        <p:grpSpPr>
          <a:xfrm>
            <a:off x="225600" y="112800"/>
            <a:ext cx="8632800" cy="744450"/>
            <a:chOff x="225600" y="112800"/>
            <a:chExt cx="8632800" cy="744450"/>
          </a:xfrm>
        </p:grpSpPr>
        <p:sp>
          <p:nvSpPr>
            <p:cNvPr id="171" name="Google Shape;171;p16"/>
            <p:cNvSpPr/>
            <p:nvPr/>
          </p:nvSpPr>
          <p:spPr>
            <a:xfrm>
              <a:off x="285750" y="285750"/>
              <a:ext cx="8572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225600" y="112800"/>
              <a:ext cx="8632800" cy="6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&amp; Future Scope</a:t>
              </a:r>
              <a:endParaRPr b="1" i="0" sz="32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3" name="Google Shape;173;p16"/>
          <p:cNvGrpSpPr/>
          <p:nvPr/>
        </p:nvGrpSpPr>
        <p:grpSpPr>
          <a:xfrm>
            <a:off x="285750" y="1047750"/>
            <a:ext cx="8572500" cy="2190900"/>
            <a:chOff x="285750" y="1047750"/>
            <a:chExt cx="8572500" cy="2190900"/>
          </a:xfrm>
        </p:grpSpPr>
        <p:sp>
          <p:nvSpPr>
            <p:cNvPr id="174" name="Google Shape;174;p16"/>
            <p:cNvSpPr/>
            <p:nvPr/>
          </p:nvSpPr>
          <p:spPr>
            <a:xfrm>
              <a:off x="285750" y="1047750"/>
              <a:ext cx="8572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476250" y="1190625"/>
              <a:ext cx="8191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b="1" i="0" sz="1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96.22% Accuracy &amp; 100% Recall: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Achieved with Pathological class.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Optimized Strategy: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Two-stage weighting + threshold tuning outperforms all configurations.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Preprocessing Risks: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Outlier capping and SMOTE can degrade tree-based model performance.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Gradient Boosting: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Superior at correcting errors on hard minority samples.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6" name="Google Shape;176;p16"/>
          <p:cNvGrpSpPr/>
          <p:nvPr/>
        </p:nvGrpSpPr>
        <p:grpSpPr>
          <a:xfrm>
            <a:off x="285750" y="3429000"/>
            <a:ext cx="8572500" cy="2190900"/>
            <a:chOff x="285750" y="3429000"/>
            <a:chExt cx="8572500" cy="2190900"/>
          </a:xfrm>
        </p:grpSpPr>
        <p:sp>
          <p:nvSpPr>
            <p:cNvPr id="177" name="Google Shape;177;p16"/>
            <p:cNvSpPr/>
            <p:nvPr/>
          </p:nvSpPr>
          <p:spPr>
            <a:xfrm>
              <a:off x="285750" y="3429000"/>
              <a:ext cx="8572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476250" y="3571875"/>
              <a:ext cx="8191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Scope</a:t>
              </a:r>
              <a:endParaRPr b="1" i="0" sz="1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Validation: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External testing on diverse hospital CTG data and populations.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Clinical Impact: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Prospective trials to measure real patient outcomes.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Advanced Architectures: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Deep learning (LSTMs/Transformers) on raw FHR/UC waveforms.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Real-time Support:</a:t>
              </a:r>
              <a:r>
                <a:rPr b="0" i="0" lang="en-US" sz="14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Bedside decision tools with clinician feedback loops.</a:t>
              </a:r>
              <a:endParaRPr b="0" i="0" sz="1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7905750" y="6286500"/>
            <a:ext cx="952500" cy="285900"/>
            <a:chOff x="7905750" y="6286500"/>
            <a:chExt cx="952500" cy="285900"/>
          </a:xfrm>
        </p:grpSpPr>
        <p:sp>
          <p:nvSpPr>
            <p:cNvPr id="180" name="Google Shape;180;p16"/>
            <p:cNvSpPr/>
            <p:nvPr/>
          </p:nvSpPr>
          <p:spPr>
            <a:xfrm>
              <a:off x="7905750" y="6286500"/>
              <a:ext cx="952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7905750" y="62865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Slide 7</a:t>
              </a:r>
              <a:endParaRPr b="0" i="0" sz="12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164000" y="341579"/>
            <a:ext cx="53220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87" name="Google Shape;187;p17"/>
          <p:cNvSpPr txBox="1"/>
          <p:nvPr/>
        </p:nvSpPr>
        <p:spPr>
          <a:xfrm>
            <a:off x="457200" y="0"/>
            <a:ext cx="601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164000" y="1050000"/>
            <a:ext cx="82443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Şahin &amp; Subasi (2015). Classification of cardiotocogram data. Applied Soft Computing, 33.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Rahmayanti et al. (2022). Comparison of ML algorithms for fetal health. Procedia CS, 197.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Subasi et al. (2020). Cardiotocogram classification using bagging. Procedia CS, 168.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Bache &amp; Lichman (2013). UCI Machine Learning Repository.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Cömert &amp; Kocamaz (2017). ML techniques for fetal heart rate. Acta Physica Polonica A, 132.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Cömert et al. (2019). Prediction of intrapartum fetal hypoxia. Health Info. Sci. &amp; Systems, 7.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Sundar et al. (2012). Cardiotocogram classification using neural networks. IJCA, 47.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Batra et al. (2017). Cardiotocography analysis using conjunction of ML algorithms.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